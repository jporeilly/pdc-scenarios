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34E4A"/>
                </a:solidFill>
              </a:rPr>
              <a:t>Automating the Glossary Workflow</a:t>
            </a:r>
          </a:p>
          <a:p>
            <a:r>
              <a:rPr sz="2400">
                <a:solidFill>
                  <a:srgbClr val="0F766E"/>
                </a:solidFill>
              </a:rPr>
              <a:t>with the PDC Public API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Copper State Credit Union scenario  ·  PDC 11.0.0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Technical Track · Module 01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Glossary Generator 1.24.0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463040" cy="635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Set the frame</a:t>
            </a:r>
          </a:p>
          <a:p>
            <a:r>
              <a:rPr sz="1500" i="1">
                <a:solidFill>
                  <a:srgbClr val="0F766E"/>
                </a:solidFill>
              </a:rPr>
              <a:t>what this session 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other workshop teaches PDC through its UI. This one teaches the PUBLIC API.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We drive it from a companion tool — the Glossary Generator — that walks the whole workflow on one screen.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Custom tool, NOT a product feature: Apply to PDC, dry-run and Compare are app buttons calling public endpoints.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comes after the manual workshops on purpose: doing it by hand first is what makes the API legible.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challenge, and the goal</a:t>
            </a:r>
          </a:p>
          <a:p>
            <a:r>
              <a:rPr sz="1500" i="1">
                <a:solidFill>
                  <a:srgbClr val="0F766E"/>
                </a:solidFill>
              </a:rPr>
              <a:t>why a Registry exists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Three facts about a column — its term, its tags, its sensitivity — get decided in three places, by hand.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Nothing forces them to agree, because tags are free text on both sides. So they drift.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GOAL: one Registry row per concept holding the single agreed answer.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Everything downstream is generated from that row, so the glossary term and the method tags cannot disagree.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Two apps, one handoff</a:t>
            </a:r>
          </a:p>
          <a:p>
            <a:r>
              <a:rPr sz="1500" i="1">
                <a:solidFill>
                  <a:srgbClr val="0F766E"/>
                </a:solidFill>
              </a:rPr>
              <a:t>the Registry is the contract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1 · Glossary Generator — scans sources, proposes concepts, the steward reviews, exports the glossary. Authors the Registry.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2 · Policy Generator — reads the Registry with reconciled term ids, emits dictionaries and patterns bound to each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Keeping them distinct matches PDC's own split of Business Glossary from Data Identification.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In PDC there is no Policy object: a policy IS the set of methods a steward enables.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Getting started</a:t>
            </a:r>
          </a:p>
          <a:p>
            <a:r>
              <a:rPr sz="1500" i="1">
                <a:solidFill>
                  <a:srgbClr val="0F766E"/>
                </a:solidFill>
              </a:rPr>
              <a:t>install and connect — no containers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runs natively:  ./run.sh   ·   .\run.ps1   ·   run.bat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Each launcher boots uvicorn, serves the React UI, and publishes its own API docs at /docs.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Set GLOSSARY_COMPANY and GLOSSARY_DOMAIN_PACK for the Copper State vocabulary.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Apply → PDC connection → Get token. Held in memory only; Business Steward is enough.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USE THE VHOST, NOT THE IP — PDC's proxy routes by hostname, and its internal API 401s on a bare IP.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Part 1</a:t>
            </a:r>
          </a:p>
          <a:p>
            <a:r>
              <a:rPr sz="2400">
                <a:solidFill>
                  <a:srgbClr val="FFFFFF"/>
                </a:solidFill>
              </a:rPr>
              <a:t>Build the glossary in the app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Connect → Review → Govern → Resolve &amp; Apply</a:t>
            </a:r>
          </a:p>
          <a:p>
            <a:r>
              <a:rPr sz="1500" i="1">
                <a:solidFill>
                  <a:srgbClr val="0F766E"/>
                </a:solidFill>
              </a:rPr>
              <a:t>eight steps, three runtimes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1–3 Connect &amp; scan · Review &amp; prune · Govern &amp; generate      →  LOCAL (app)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4   Import the glossary                                      →  PDC UI · Actions → Import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5–8 Token · Resolve ids · Apply · Score &amp; compare            →  PUBLIC API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GOLDEN RULE: step 4 is import-only. There is no create-term endpoint.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the order is import → resolve → apply. Never apply-first.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Where this fits</a:t>
            </a:r>
          </a:p>
          <a:p>
            <a:r>
              <a:rPr sz="1500" i="1">
                <a:solidFill>
                  <a:srgbClr val="0F766E"/>
                </a:solidFill>
              </a:rPr>
              <a:t>PDC's processing order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PDC's scan owns: metadata ingest, data profiling, data identification + PII.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writes: glossary terms, stewardship, governance flags, then Trust 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Ingest → Profile → Identify → import glossary → Resolve → Apply → Trust Score (last).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Run profiling AFTER the app and it overwrites what you set. Run it first and Apply merges on top.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Connect and scan</a:t>
            </a:r>
          </a:p>
          <a:p>
            <a:r>
              <a:rPr sz="1500" i="1">
                <a:solidFill>
                  <a:srgbClr val="0F766E"/>
                </a:solidFill>
              </a:rPr>
              <a:t>two lanes, one glossary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database has a schema, so PDC profiles it. A bucket of files has none, so PDC discovers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cscu_core takes the profiling lane; cscu-documents takes the discovery lane. Add to glossary merges both.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Three ways in: bulk-load a CSV into PDC · harvest what PDC already catalogued · add to the app's own connections.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Give the app READ-ONLY credentials. It never writes back to a source.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Object stores: profile / discover now runs the FILE SCAN first — Discovery analyses what a scan catalogued, it does not crawl a bucket.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What a scan turns up</a:t>
            </a:r>
          </a:p>
          <a:p>
            <a:r>
              <a:rPr sz="1500" i="1">
                <a:solidFill>
                  <a:srgbClr val="0F766E"/>
                </a:solidFill>
              </a:rPr>
              <a:t>evidence, not name-matching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One term per column — so review is pruning, never gap-hunting.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Definitions and purpose drafted from names, comments and keys.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and PII, inferred from names and samples.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CDE and keys, read from the PK/FK structure.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physical model — FK edges from ALL columns, kept or pruned, so the join graph survives pruning.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1 · Under the hood</a:t>
            </a:r>
          </a:p>
          <a:p>
            <a:r>
              <a:rPr sz="1500" i="1">
                <a:solidFill>
                  <a:srgbClr val="0F766E"/>
                </a:solidFill>
              </a:rPr>
              <a:t>the scan never touches PDC's API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Database lane — SQL over information_schema, plus pg_catalog for keys, then a bounded per-column sample.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Object-store lane — S3 API: list_objects_v2, get_object_tagging, head_object, get_object.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reads your sources directly and writes local JSON. Read-only credentials are enough.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stage has an expandable Under the hood panel with View source. Those panels are the current reference.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2 · Review and prune</a:t>
            </a:r>
          </a:p>
          <a:p>
            <a:r>
              <a:rPr sz="1500" i="1">
                <a:solidFill>
                  <a:srgbClr val="0F766E"/>
                </a:solidFill>
              </a:rPr>
              <a:t>the steward's screen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column is already a candidate, so the work is subtractive: cut noise, sharpen what remains.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Structural keys arrive ALREADY PRUNED with a KEY badge — a surrogate PK/FK is not a business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Their PK/FK relationships still travel to the Registry's physical model. Ticking Keep restores any of them.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Confidence is triage: High = a comment or a key · Medium = name + type · Low = templated from the name.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Terms export as DRAFT. A Business Steward approves them in PDC after import.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AI pass</a:t>
            </a:r>
          </a:p>
          <a:p>
            <a:r>
              <a:rPr sz="1500" i="1">
                <a:solidFill>
                  <a:srgbClr val="0F766E"/>
                </a:solidFill>
              </a:rPr>
              <a:t>one agent, not a toolbar of them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ONE model call per BATCH of kept rows: definition, purpose, a clearer name, governed tags, a blank category.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Enrich · AI suggest · AI categorize · the AI QA judge were four buttons. They overlapped and overwrote each other.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Guardrails: tags governed-only · an existing category untouched · the name a chip · SENSITIVITY AND PII NEVER SET BY THE MODEL.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AI review runs the same pass on ONE row, from that row's expanded editor.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Agents propose; the steward accepts. Pills land per cell; the grid never mutates mid-run.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definition linter</a:t>
            </a:r>
          </a:p>
          <a:p>
            <a:r>
              <a:rPr sz="1500" i="1">
                <a:solidFill>
                  <a:srgbClr val="0F766E"/>
                </a:solidFill>
              </a:rPr>
              <a:t>flags that become rewrite orders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Deterministic, offline, and free: circular, echoed, vague, too-short, duplicated — and the scan's own templated sentences.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runs BEFORE the model, and its verdict enters the prompt as REWRITE REQUIRED.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Rows are re-linted AFTER, so a surviving QA chip is what the model could not improve from the evidence.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flag the steward cannot act on is noise. This turns it into the model's instruction.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Resolving duplicates</a:t>
            </a:r>
          </a:p>
          <a:p>
            <a:r>
              <a:rPr sz="1500" i="1">
                <a:solidFill>
                  <a:srgbClr val="0F766E"/>
                </a:solidFill>
              </a:rPr>
              <a:t>evidence first, model last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Every duplicate header carries a recommendation AND its reason, computed the moment the glossary loads.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Escalation ladder: cached scan evidence → live value probe → AI adjudicator, and it stops as soon as one settles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AI advise only touches groups badged CHECK. Groups decided on evidence are never re-judged.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SAME NAME, DIFFERENT CONCEPTS = DISAMBIGUATE. Resolve matches by name and takes the first hit,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two terms called Status would silently mis-link one group's columns — whatever their categories.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What counts as evidence of one concept</a:t>
            </a:r>
          </a:p>
          <a:p>
            <a:r>
              <a:rPr sz="1500" i="1">
                <a:solidFill>
                  <a:srgbClr val="0F766E"/>
                </a:solidFill>
              </a:rPr>
              <a:t>the advisor's ranking, strongest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FK link between the columns  -&gt;  same, by construction.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Overlapping CODED value sets {OPEN, CLOSED}  -&gt;  same. Disjoint code lists  -&gt;  different.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Identical DISTINCTIVE format ^AWC-[A-Z]{2}-\d{6}$  -&gt;  same. Different formats  -&gt;  different.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PII class mismatch  -&gt;  different. The weakest signal, used last.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Two of these are sound in ONE direction only — see the next slide.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A data TYPE is not a CONCEPT</a:t>
            </a:r>
          </a:p>
          <a:p>
            <a:r>
              <a:rPr sz="1500" i="1">
                <a:solidFill>
                  <a:srgbClr val="0F766E"/>
                </a:solidFill>
              </a:rPr>
              <a:t>the trap that bit this app twice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^0\.\d{2}$ means 'a small decimal' — lead_ppb, copper_ppm and turbidity_ntu ALL match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Scored as 'same concept' it ranked Lead Ppb &lt;- Turbidity Ntu at 0.85 STRONG. Merging = one contaminant's limits on another's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Same with overlap: Paid Bills and Outstanding Bills both draw from {0,1}, scored 100% overlap — and are OPPOSITES.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Now gated: a format counts only if DISTINCTIVE (minted literal text, not digit classes); overlap only for a CODED vocabulary.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Otherwise: no verdict, 'too generic to identify a concept — compare the definitions'. The steward decides.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Read the ranking, not the scores</a:t>
            </a:r>
          </a:p>
          <a:p>
            <a:r>
              <a:rPr sz="1500" i="1">
                <a:solidFill>
                  <a:srgbClr val="0F766E"/>
                </a:solidFill>
              </a:rPr>
              <a:t>how the flaw showed itself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tell that scoring measures the wrong thing: a CORRECT answer ranking below wrong ones.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Chlorine Residual &lt;- Chlorine Residual Ppm — the one right merge — scored 0.84 review.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Three false positives scored 0.85 strong above it, because name identity was outranked by format identity.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Find similar is not the duplicate resolver: the resolver groups IDENTICAL names, Find similar spans DIFFERENT ones.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Merging in Find similar RENAMES one term, which then forms a same-name group for the resolver to fold. Two steps by design.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Term &amp; Tag Dictionary</a:t>
            </a:r>
          </a:p>
          <a:p>
            <a:r>
              <a:rPr sz="1500" i="1">
                <a:solidFill>
                  <a:srgbClr val="0F766E"/>
                </a:solidFill>
              </a:rPr>
              <a:t>one governed vocabulary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generic baseline (protected) plus a company layer seeded from the domain pack and grown from scans.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Scan-grown vocabulary lands in PENDING and governs nothing until a steward approves it.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is embedded in the Registry at export — so the Policy Generator can only use the same allow-list.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That is the tag-consistency contract between the two apps.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is ORDINAL: tags and canonical terms can only raise a classification, never lower it.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Step 3 · Govern and generate</a:t>
            </a:r>
          </a:p>
          <a:p>
            <a:r>
              <a:rPr sz="1500" i="1">
                <a:solidFill>
                  <a:srgbClr val="0F766E"/>
                </a:solidFill>
              </a:rPr>
              <a:t>stewardship baked in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Build the roster by hand or fetch it live from Keycloak, so accounts match the target instance.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Set steward / owner / custodian / status / rating — globally or per category.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People and terms bind by per-instance UUID, never display name.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Generate writes the JSONL and the Registry. Import replaces the WHOLE glossary, not a delta.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Draft policies (AI) also emits Quality/ DQ rules: format, allowed_values, not_null, unique, valid_date, numeric.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Part 2</a:t>
            </a:r>
          </a:p>
          <a:p>
            <a:r>
              <a:rPr sz="2400">
                <a:solidFill>
                  <a:srgbClr val="FFFFFF"/>
                </a:solidFill>
              </a:rPr>
              <a:t>The PDC Public API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The API surface</a:t>
            </a:r>
          </a:p>
          <a:p>
            <a:r>
              <a:rPr sz="1500" i="1">
                <a:solidFill>
                  <a:srgbClr val="0F766E"/>
                </a:solidFill>
              </a:rPr>
              <a:t>what this workshop touches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Auth      POST /auth                                  → the bearer token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Search    POST /search                                → a term's id + glossaryId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Entities  POST /entities/filter                       → find a column entity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Entities  PATCH /entities/{id}                        → write businessTerms + features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Jobs      /jobs/execute/calculate-trust-score · /data-discovery · /{id}/status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A · Authenticate</a:t>
            </a:r>
          </a:p>
          <a:p>
            <a:r>
              <a:rPr sz="1500" i="1">
                <a:solidFill>
                  <a:srgbClr val="0F766E"/>
                </a:solidFill>
              </a:rPr>
              <a:t>know who you are before writing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POST /api/public/v2/auth, form-encoded; the token comes back under data.accessToken.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Or straight from Keycloak's realm token endpoint — the same JWT under .access_token.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Get token reports WHO the token belongs to — roles and expiry — before anything writes.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Tokens expire. Re-auth on a 401. Never persist one.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B · Resolve term IDs</a:t>
            </a:r>
          </a:p>
          <a:p>
            <a:r>
              <a:rPr sz="1500" i="1">
                <a:solidFill>
                  <a:srgbClr val="0F766E"/>
                </a:solidFill>
              </a:rPr>
              <a:t>why import has to come first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POST /search { searchTerm, searchFacets: { type: ["term"] } }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term hit carries its own _id (the term id) and rootId (its glossary).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term has NO id until it exists in PDC — which is why the glossary is imported before this step.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Resolve matches by NAME. Two terms sharing a name cannot be told apart here.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C · Which terms get written</a:t>
            </a:r>
          </a:p>
          <a:p>
            <a:r>
              <a:rPr sz="1500" i="1">
                <a:solidFill>
                  <a:srgbClr val="0F766E"/>
                </a:solidFill>
              </a:rPr>
              <a:t>map by business value, not volume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Mapped: Critical Data Elements, PII columns, and terms with real evidence (comment, key, or profiling hit).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Held back: low-confidence names, and conceptual terms with no physical column.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per-row Map = Yes/No always beats the policy.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Over-linking pollutes lineage, search and impact analysis — and does nothing for Trust Score, whose term input is binary.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C · Apply — the centrepiece</a:t>
            </a:r>
          </a:p>
          <a:p>
            <a:r>
              <a:rPr sz="1500" i="1">
                <a:solidFill>
                  <a:srgbClr val="0F766E"/>
                </a:solidFill>
              </a:rPr>
              <a:t>merge, never replace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Resolve the column → read what is there → union the terms → PATCH the superset.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PATCH contract: ARRAYS FULLY REPLACE. Sending just the new term would drop the existing ones.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businessTerms accepts six keys only: id, glossaryId, name, sourceName, sourceType, confidenceScore.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Any extra key — notably the app's own glossary display name — makes PDC reject the whole PATCH with a 400.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Dry-run first, every time you point at a new instance.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D · Trust Score</a:t>
            </a:r>
          </a:p>
          <a:p>
            <a:r>
              <a:rPr sz="1500" i="1">
                <a:solidFill>
                  <a:srgbClr val="0F766E"/>
                </a:solidFill>
              </a:rPr>
              <a:t>a table/file rollup, never a column score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PDC scores TABLES and FILES. A column never receives a Trust Score.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writes qualityScore + rating onto columns, then rolls the mean up to the table.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job's scope is therefore TABLE / FILE ids.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Four inputs: a linked glossary term, verified lineage, a user rating, and Data Quality.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app creates table-level terms; the Steward links them by hand.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Labs E &amp; F · Compare and profile</a:t>
            </a:r>
          </a:p>
          <a:p>
            <a:r>
              <a:rPr sz="1500" i="1">
                <a:solidFill>
                  <a:srgbClr val="0F766E"/>
                </a:solidFill>
              </a:rPr>
              <a:t>close the loop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E — POST /entities/filter/profiling-info lays PDC's numbers beside the app's, column by column.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Close agreement validates the heuristics; big gaps usually mean a different sample, or not profiled yet.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F — POST /jobs/execute/data-discovery profiles object-store documents.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withProfile is v3-only. Databases are profiled by structured Data Profiling, not Data Discovery.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F · Scope a FOLDER, not a file</a:t>
            </a:r>
          </a:p>
          <a:p>
            <a:r>
              <a:rPr sz="1500" i="1">
                <a:solidFill>
                  <a:srgbClr val="0F766E"/>
                </a:solidFill>
              </a:rPr>
              <a:t>the cascade is the whole point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Scope a FOLDER entity and PDC profiles it AND every file inside. Scope a FILE and you get that file only.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Data-Elements payload carries ONE representative file per folder — so file scope profiles 5 of 16 and still returns SUCCESS.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Read the run message: 'awc-documents/compliance' (slashed) = folder, cascading. Dotted = the file fallback.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GOTCHA: PDC types object-store folders FOLDER, not DIRECTORY — a scan reports '16 FILE + 5 FOLDER entities'.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filter that omits FOLDER gets no hits at all, and reads exactly like 'that folder is not catalogued'.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Lab F · SKIPPED is not always a failure</a:t>
            </a:r>
          </a:p>
          <a:p>
            <a:r>
              <a:rPr sz="1500" i="1">
                <a:solidFill>
                  <a:srgbClr val="0F766E"/>
                </a:solidFill>
              </a:rPr>
              <a:t>what Discovery can and cannot profile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csv / tsv / json / jsonl / txt  -&gt;  COMPLETED: columns with rows, cardinality, uniqueness, density, lengths.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pdf / docx  -&gt;  properties and checksum yes (pages, author, title); Profiled Status stays SKIPPED, permanently.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PDF has no rows or columns to sample, so profiling is meaningless — neither PDC nor the app can score one.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Verify the cascade on a file that was NOT the representative. The representative only proves the scope;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and a PDF proves neither, because it can never profile.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Alternative input · Harvest</a:t>
            </a:r>
          </a:p>
          <a:p>
            <a:r>
              <a:rPr sz="1500" i="1">
                <a:solidFill>
                  <a:srgbClr val="0F766E"/>
                </a:solidFill>
              </a:rPr>
              <a:t>when you cannot scan the source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Builds the glossary from what PDC already catalogued — no database connection, no password.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There is no list-all-data-sources call: the app discovers roots via entities/filter.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It reads dataType, keys, nullability, the steward's description, sensitivity and existing terms.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Columns PDC already governs are flagged, so the generator suggests but never silently overwrites.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Before you point it at production</a:t>
            </a:r>
          </a:p>
          <a:p>
            <a:r>
              <a:rPr sz="1500" i="1">
                <a:solidFill>
                  <a:srgbClr val="0F766E"/>
                </a:solidFill>
              </a:rPr>
              <a:t>the caveats that bite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Least privilege — glossary read, entity edit, job execute. Business Steward beats admin.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Confirm the path version against YOUR instance's Swagger; the jobs catalog is richest in v3.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Dry-run proves the merge produces a superset rather than a replacement.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Re-applying is safe — the app merges by term id/name, so links do not duplicate.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Base URL is the server ROOT and the VHOST — not an IP, not the Keycloak realm URL.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Drift, Reconcile &amp; the Registry</a:t>
            </a:r>
          </a:p>
          <a:p>
            <a:r>
              <a:rPr sz="1500" i="1">
                <a:solidFill>
                  <a:srgbClr val="0F766E"/>
                </a:solidFill>
              </a:rPr>
              <a:t>why drift is a post-reconcile idea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dictionary method matches a concept by dictionaryTermId — which does not exist until PDC mints it at import.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scan → review → export → import (ids minted) → RECONCILE → emit methods → drift check.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Before reconcile, dictionary methods read UNKNOWN. Pattern methods bind by category name, so they show a step earlier.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Registry is persistent state saved with the glossary — the reconcile handshake is stateful.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Sensitivity is rules-first: the model never sets a governed field, and the scan classifier is re-asserted after every run.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Safe enrichment</a:t>
            </a:r>
          </a:p>
          <a:p>
            <a:r>
              <a:rPr sz="1500" i="1">
                <a:solidFill>
                  <a:srgbClr val="0F766E"/>
                </a:solidFill>
              </a:rPr>
              <a:t>prose from the model, links from a map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small model will invent regulation names, section numbers and — worst — live URLs.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A governance term citing an invented regulation is worse than one citing nothing.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the model writes one or two plain sentences and is told NOT to produce citations.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Links come only from a curated, human-verified reference map in the domain pack, each stamped with its verification date.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Same principle as the tag allow-list: the model proposes within a controlled vocabulary and never mints facts.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502920"/>
            <a:ext cx="10637215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000" b="1">
                <a:solidFill>
                  <a:srgbClr val="134E4A"/>
                </a:solidFill>
              </a:rPr>
              <a:t>Build from the Term, match the tags</a:t>
            </a:r>
          </a:p>
          <a:p>
            <a:r>
              <a:rPr sz="1500" i="1">
                <a:solidFill>
                  <a:srgbClr val="0F766E"/>
                </a:solidFill>
              </a:rPr>
              <a:t>the closing argument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777240" y="1755648"/>
            <a:ext cx="10637215" cy="15240"/>
          </a:xfrm>
          <a:prstGeom prst="rect">
            <a:avLst/>
          </a:prstGeom>
          <a:solidFill>
            <a:srgbClr val="E5E7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965960"/>
            <a:ext cx="10637215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The Term is the canonical anchor: it has identity, links to the glossary, and carries a fixed governed tag set.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Tags are attributes of that term.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So authoring term-first — one method per concept, emitting that concept's tags — guarantees consistency.</a:t>
            </a:r>
          </a:p>
          <a:p>
            <a:pPr>
              <a:spcAft>
                <a:spcPts val="1300"/>
              </a:spcAft>
            </a:pPr>
            <a:r>
              <a:rPr sz="1600">
                <a:solidFill>
                  <a:srgbClr val="1F2A37"/>
                </a:solidFill>
                <a:latin typeface="Calibri"/>
              </a:rPr>
              <a:t>— Tag consistency is not a competing goal. It is a consequence of term-anchored authoring.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02975" y="6291072"/>
            <a:ext cx="731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>
                <a:solidFill>
                  <a:srgbClr val="6B7280"/>
                </a:solidFill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194560"/>
            <a:ext cx="10362895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600" b="1">
                <a:solidFill>
                  <a:srgbClr val="134E4A"/>
                </a:solidFill>
              </a:rPr>
              <a:t>From connect to governed data</a:t>
            </a:r>
          </a:p>
          <a:p>
            <a:r>
              <a:rPr sz="2400">
                <a:solidFill>
                  <a:srgbClr val="0F766E"/>
                </a:solidFill>
              </a:rPr>
              <a:t>every step after the import driven by the public API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Copper State Credit Union  ·  PDC 11.0.0 courseware</a:t>
            </a:r>
          </a:p>
          <a:p>
            <a:pPr>
              <a:spcBef>
                <a:spcPts val="1400"/>
              </a:spcBef>
            </a:pPr>
            <a:r>
              <a:rPr sz="1400">
                <a:solidFill>
                  <a:srgbClr val="6B7280"/>
                </a:solidFill>
              </a:rPr>
              <a:t>Glossary Generator 1.24.0</a:t>
            </a:r>
          </a:p>
        </p:txBody>
      </p:sp>
      <p:sp>
        <p:nvSpPr>
          <p:cNvPr id="4" name="Rectangle 3"/>
          <p:cNvSpPr/>
          <p:nvPr/>
        </p:nvSpPr>
        <p:spPr>
          <a:xfrm>
            <a:off x="914400" y="1965960"/>
            <a:ext cx="1463040" cy="63500"/>
          </a:xfrm>
          <a:prstGeom prst="rect">
            <a:avLst/>
          </a:prstGeom>
          <a:solidFill>
            <a:srgbClr val="0F76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